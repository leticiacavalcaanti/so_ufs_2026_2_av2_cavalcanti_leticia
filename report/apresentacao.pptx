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011680"/>
            <a:ext cx="11064240" cy="1097280"/>
          </a:xfrm>
        </p:spPr>
        <p:txBody>
          <a:bodyPr anchor="ctr"/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GenResearch-Servidor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600" b="0" i="0">
                <a:solidFill>
                  <a:srgbClr val="FFFFFF"/>
                </a:solidFill>
                <a:latin typeface="Calibri"/>
              </a:rPr>
              <a:t>Memória, armazenamento, sincronização e desempenho em um serviço RAG</a:t>
            </a:r>
          </a:p>
        </p:txBody>
      </p:sp>
      <p:sp>
        <p:nvSpPr>
          <p:cNvPr id="4" name="Autoria e pergunta"/>
          <p:cNvSpPr txBox="1"/>
          <p:nvPr/>
        </p:nvSpPr>
        <p:spPr>
          <a:xfrm>
            <a:off x="54864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800" b="0" i="0">
                <a:solidFill>
                  <a:srgbClr val="CADCFC"/>
                </a:solidFill>
                <a:latin typeface="Calibri"/>
              </a:rPr>
              <a:t>Sistemas Operacionais — AV2 — 2026.2 · Leticia Cavalcanti (individual)</a:t>
            </a:r>
          </a:p>
          <a:p>
            <a:pPr>
              <a:spcAft>
                <a:spcPts val="600"/>
              </a:spcAft>
              <a:buNone/>
            </a:pPr>
            <a:r>
              <a:rPr sz="1800" b="0" i="1">
                <a:solidFill>
                  <a:srgbClr val="CADCFC"/>
                </a:solidFill>
                <a:latin typeface="Calibri"/>
              </a:rPr>
              <a:t>Como memória, armazenamento, caches, filas e sincronização afetam desempenho, estabilidade e correção de uma aplicação de IA generativa/RAG?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Problema e recorte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2 / 15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RAG mobiliza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arquivos grandes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memória virtual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cache de páginas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filas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caches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logs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concorrentes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Foco: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o que o SO faz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não a qualidade da resposta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Recorte: serviço próprio,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vetores e geração simulados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corpus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sintético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(sem chave de API, sem pesos, reprodutível)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Configurações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C1–C6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+ Parte D (sincronização) + Parte E (memória virtual), 3 repetições cada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Ambiente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3 / 15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48640" y="1463040"/>
          <a:ext cx="110642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Debian 13 em </a:t>
                      </a:r>
                      <a:r>
                        <a:rPr sz="2000" b="1" i="0">
                          <a:solidFill>
                            <a:srgbClr val="1A1A1A"/>
                          </a:solidFill>
                          <a:latin typeface="Calibri"/>
                        </a:rPr>
                        <a:t>contêiner</a:t>
                      </a:r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 (Docker Desktop, WSL2)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Kernel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6.6.87.2-microsoft-standard-WSL2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CPU / RAM / swap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i5-10210U, 4 CPUs lógicas · 5,8 GiB · 1 GiB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nenhuma (somente CPU)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Pilha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Calibri"/>
                        </a:rPr>
                        <a:t>Python 3.12 · numpy 2.1.3 · SQLite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o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600" b="0" i="0">
                <a:solidFill>
                  <a:srgbClr val="52514E"/>
                </a:solidFill>
                <a:latin typeface="Calibri"/>
              </a:rPr>
              <a:t>Comandos: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uname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lscpu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free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/proc/meminfo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lsblk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df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vmstat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,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iostat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 → </a:t>
            </a:r>
            <a:r>
              <a:rPr sz="1600" b="0" i="0">
                <a:solidFill>
                  <a:srgbClr val="52514E"/>
                </a:solidFill>
                <a:latin typeface="Consolas"/>
              </a:rPr>
              <a:t>results/env/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Arquitetura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4 / 15</a:t>
            </a:r>
          </a:p>
        </p:txBody>
      </p:sp>
      <p:sp>
        <p:nvSpPr>
          <p:cNvPr id="4" name="Produtores"/>
          <p:cNvSpPr/>
          <p:nvPr/>
        </p:nvSpPr>
        <p:spPr>
          <a:xfrm>
            <a:off x="548640" y="1554480"/>
            <a:ext cx="2377440" cy="100584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2 produtores</a:t>
            </a:r>
          </a:p>
        </p:txBody>
      </p:sp>
      <p:sp>
        <p:nvSpPr>
          <p:cNvPr id="5" name="Fila"/>
          <p:cNvSpPr/>
          <p:nvPr/>
        </p:nvSpPr>
        <p:spPr>
          <a:xfrm>
            <a:off x="3749039" y="1554480"/>
            <a:ext cx="3017520" cy="100584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BoundedBuffer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empty / full / mutex</a:t>
            </a:r>
          </a:p>
        </p:txBody>
      </p:sp>
      <p:sp>
        <p:nvSpPr>
          <p:cNvPr id="6" name="Trabalhadores"/>
          <p:cNvSpPr/>
          <p:nvPr/>
        </p:nvSpPr>
        <p:spPr>
          <a:xfrm>
            <a:off x="7589520" y="1554480"/>
            <a:ext cx="2377440" cy="100584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N threads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trabalhadoras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057400"/>
            <a:ext cx="822959" cy="0"/>
          </a:xfrm>
          <a:prstGeom prst="line">
            <a:avLst/>
          </a:prstGeom>
          <a:ln w="25400">
            <a:solidFill>
              <a:srgbClr val="5251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66560" y="2057400"/>
            <a:ext cx="822960" cy="0"/>
          </a:xfrm>
          <a:prstGeom prst="line">
            <a:avLst/>
          </a:prstGeom>
          <a:ln w="25400">
            <a:solidFill>
              <a:srgbClr val="5251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78240" y="2560320"/>
            <a:ext cx="0" cy="685800"/>
          </a:xfrm>
          <a:prstGeom prst="line">
            <a:avLst/>
          </a:prstGeom>
          <a:ln w="25400">
            <a:solidFill>
              <a:srgbClr val="5251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che"/>
          <p:cNvSpPr/>
          <p:nvPr/>
        </p:nvSpPr>
        <p:spPr>
          <a:xfrm>
            <a:off x="7589520" y="3246120"/>
            <a:ext cx="2377440" cy="1005840"/>
          </a:xfrm>
          <a:prstGeom prst="roundRect">
            <a:avLst/>
          </a:prstGeom>
          <a:solidFill>
            <a:srgbClr val="D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Cache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LRU/FIFO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+ mutex</a:t>
            </a:r>
          </a:p>
        </p:txBody>
      </p:sp>
      <p:sp>
        <p:nvSpPr>
          <p:cNvPr id="11" name="Indice"/>
          <p:cNvSpPr/>
          <p:nvPr/>
        </p:nvSpPr>
        <p:spPr>
          <a:xfrm>
            <a:off x="3749039" y="3246120"/>
            <a:ext cx="3017520" cy="1005840"/>
          </a:xfrm>
          <a:prstGeom prst="roundRect">
            <a:avLst/>
          </a:prstGeom>
          <a:solidFill>
            <a:srgbClr val="D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Embedding +</a:t>
            </a:r>
          </a:p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varredura do índice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(.npy: read | mmap)</a:t>
            </a:r>
          </a:p>
        </p:txBody>
      </p:sp>
      <p:sp>
        <p:nvSpPr>
          <p:cNvPr id="12" name="Geracao"/>
          <p:cNvSpPr/>
          <p:nvPr/>
        </p:nvSpPr>
        <p:spPr>
          <a:xfrm>
            <a:off x="548640" y="3246120"/>
            <a:ext cx="2651760" cy="1005840"/>
          </a:xfrm>
          <a:prstGeom prst="roundRect">
            <a:avLst/>
          </a:prstGeom>
          <a:solidFill>
            <a:srgbClr val="D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SQLite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→ contexto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→ geração simulada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766560" y="3749039"/>
            <a:ext cx="822960" cy="0"/>
          </a:xfrm>
          <a:prstGeom prst="line">
            <a:avLst/>
          </a:prstGeom>
          <a:ln w="25400">
            <a:solidFill>
              <a:srgbClr val="5251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00400" y="3749039"/>
            <a:ext cx="548639" cy="0"/>
          </a:xfrm>
          <a:prstGeom prst="line">
            <a:avLst/>
          </a:prstGeom>
          <a:ln w="25400">
            <a:solidFill>
              <a:srgbClr val="5251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o"/>
          <p:cNvSpPr txBox="1"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Threads: carga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mista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(sleep, numpy e hashlib liberam o GIL)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Recursos compartilhados: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fila, cache, log (mutex), conexões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C1 × C2: read() × mmap (768 MB)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5 / 15</a:t>
            </a:r>
          </a:p>
        </p:txBody>
      </p:sp>
      <p:pic>
        <p:nvPicPr>
          <p:cNvPr id="4" name="Figura fig_c1c2_leitura.png" descr="fig_c1c2_l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257006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548640" y="4674325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2ª execução 2–3× mais rápida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0 MB lidos do disco →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cache de páginas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onsolas"/>
              </a:rPr>
              <a:t>read()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do arquivo inteiro: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+768 MB de RSS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2× mais lento que ler em blocos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onsolas"/>
              </a:rPr>
              <a:t>mmap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: VSZ sobe na abertura, RSS só ao tocar; 6.146 faltas maiores (~125 KiB cada,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readahead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mmap em acesso aleatório frio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6 / 15</a:t>
            </a:r>
          </a:p>
        </p:txBody>
      </p:sp>
      <p:pic>
        <p:nvPicPr>
          <p:cNvPr id="4" name="Figura fig_c1c2_aleatorio.png" descr="fig_c1c2_ale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2633472"/>
          </a:xfrm>
          <a:prstGeom prst="rect">
            <a:avLst/>
          </a:prstGeom>
        </p:spPr>
      </p:pic>
      <p:sp>
        <p:nvSpPr>
          <p:cNvPr id="5" name="Destaque pread"/>
          <p:cNvSpPr/>
          <p:nvPr/>
        </p:nvSpPr>
        <p:spPr>
          <a:xfrm>
            <a:off x="7680960" y="1463040"/>
            <a:ext cx="3931920" cy="123444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23 MB</a:t>
            </a:r>
          </a:p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lidos do disco por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pread()</a:t>
            </a:r>
          </a:p>
        </p:txBody>
      </p:sp>
      <p:sp>
        <p:nvSpPr>
          <p:cNvPr id="6" name="Destaque mmap"/>
          <p:cNvSpPr/>
          <p:nvPr/>
        </p:nvSpPr>
        <p:spPr>
          <a:xfrm>
            <a:off x="7680960" y="2880360"/>
            <a:ext cx="3931920" cy="1234440"/>
          </a:xfrm>
          <a:prstGeom prst="roundRect">
            <a:avLst/>
          </a:prstGeom>
          <a:solidFill>
            <a:srgbClr val="FB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287 MB</a:t>
            </a:r>
          </a:p>
          <a:p>
            <a:pPr algn="ctr"/>
            <a:r>
              <a:rPr sz="2000" b="0" i="0">
                <a:solidFill>
                  <a:srgbClr val="1A1A1A"/>
                </a:solidFill>
                <a:latin typeface="Calibri"/>
              </a:rPr>
              <a:t>lidos do disco por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mmap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3.000 acessos de 4 KiB (≈ 12 MB úteis): </a:t>
            </a:r>
            <a:r>
              <a:rPr sz="1800" b="0" i="0">
                <a:solidFill>
                  <a:srgbClr val="1A1A1A"/>
                </a:solidFill>
                <a:latin typeface="Consolas"/>
              </a:rPr>
              <a:t>mmap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com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12× de amplificação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e 2,2× mais lento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Cache quente: diferença pequena (12,8 × 17,6 ms)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→ </a:t>
            </a:r>
            <a:r>
              <a:rPr sz="1800" b="0" i="1">
                <a:solidFill>
                  <a:srgbClr val="1A1A1A"/>
                </a:solidFill>
                <a:latin typeface="Calibri"/>
              </a:rPr>
              <a:t>mmap não é vantajoso para acesso esparso e frio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C5: índice maior que a memória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7 / 15</a:t>
            </a:r>
          </a:p>
        </p:txBody>
      </p:sp>
      <p:pic>
        <p:nvPicPr>
          <p:cNvPr id="4" name="Figura fig_c5_limite.png" descr="fig_c5_lim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3218688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667512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Índice de 1 GB, limite de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384 MB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onsolas"/>
              </a:rPr>
              <a:t>read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→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OOM kill (exit 137)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nas 3 repetições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onsolas"/>
              </a:rPr>
              <a:t>mmap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→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sobrevive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, mas com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thrashing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: ~125 mil faltas maiores,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15,3 GB lidos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, consulta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13–17× mais lenta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Swap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não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foi exercitado (contêiner sem swap)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C5: crescimento do corpus e do contexto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8 / 15</a:t>
            </a:r>
          </a:p>
        </p:txBody>
      </p:sp>
      <p:pic>
        <p:nvPicPr>
          <p:cNvPr id="4" name="Figura fig_c5_escala.png" descr="fig_c5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017520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Recuperação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linear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no índice (≈ 70 µs/MB); RSS ≈ índice + ~40 MB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onsolas"/>
              </a:rPr>
              <a:t>read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 </a:t>
            </a:r>
            <a:r>
              <a:rPr sz="1700" b="0" i="0">
                <a:solidFill>
                  <a:srgbClr val="1A1A1A"/>
                </a:solidFill>
                <a:latin typeface="Consolas"/>
              </a:rPr>
              <a:t>mmap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iguais em regime estacionário: muda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quando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o custo é pago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Contexto de 500 → 8.000 B: geração de 20 → ~110 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C3: concorrência e fila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9 / 15</a:t>
            </a:r>
          </a:p>
        </p:txBody>
      </p:sp>
      <p:pic>
        <p:nvPicPr>
          <p:cNvPr id="4" name="Figura fig_c3_concorrencia.png" descr="fig_c3_concor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017520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4 workers: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1,7–1,85×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 vazão · 8 workers: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sem ganho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p95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~5× pior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Fila 64: espera de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1,2–2,3 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(fila 4: ~0,1 s) → fila grande = latência, não vazão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0 perdas, 0 duplicatas, 0 violações de FIFO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C4: cache compartilhado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10 / 15</a:t>
            </a:r>
          </a:p>
        </p:txBody>
      </p:sp>
      <p:pic>
        <p:nvPicPr>
          <p:cNvPr id="4" name="Figura fig_c4_cache.png" descr="fig_c4_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3264408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548640" y="468172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90% de repetição: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89,2% de acerto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, tempo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9,9 s → 1,25 s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(≈ 8×)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Consultas distintas: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0%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de acerto · LRU ≈ FIFO (repetição uniforme)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Sincronização e falha controlada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11 / 15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926080"/>
                <a:gridCol w="41148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Demonstração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Sem proteção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Com proteção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Cache: atualizações perdidas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A1A1A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0 (mutex ou lock por chave)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Cache: computações duplicadas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Log: linhas corrompidas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A1A1A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0 (mutex)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Deadlock A→B / B→A (subprocesso)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travou → </a:t>
                      </a:r>
                      <a:r>
                        <a:rPr sz="1700" b="1" i="0">
                          <a:solidFill>
                            <a:srgbClr val="1A1A1A"/>
                          </a:solidFill>
                          <a:latin typeface="Calibri"/>
                        </a:rPr>
                        <a:t>kill</a:t>
                      </a:r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 após 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Calibri"/>
                        </a:rPr>
                        <a:t>ordenação de locks: 0,3 s · timeout + recuo: 0,6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Threads travadas em </a:t>
            </a:r>
            <a:r>
              <a:rPr sz="1700" b="0" i="0">
                <a:solidFill>
                  <a:srgbClr val="1A1A1A"/>
                </a:solidFill>
                <a:latin typeface="Consolas"/>
              </a:rPr>
              <a:t>futex_wait_queue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· lock por chave: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−18% de tempo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vs. mutex global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Janelas de corrida ampliadas de propósito (</a:t>
            </a:r>
            <a:r>
              <a:rPr sz="1700" b="0" i="0">
                <a:solidFill>
                  <a:srgbClr val="1A1A1A"/>
                </a:solidFill>
                <a:latin typeface="Consolas"/>
              </a:rPr>
              <a:t>sleep(0)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): injeção de falha controlada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C6: falhas controladas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12 / 15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Índice ausente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40 erros tratados, 80 retentativas, processo estável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Índice volta em 0,6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1A1A1A"/>
                          </a:solidFill>
                          <a:latin typeface="Calibri"/>
                        </a:rPr>
                        <a:t>120/120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 concluídas com retentativas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Fila cheia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1A1A1A"/>
                          </a:solidFill>
                          <a:latin typeface="Calibri"/>
                        </a:rPr>
                        <a:t>rejeita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: 112 de 120 descartadas · </a:t>
                      </a:r>
                      <a:r>
                        <a:rPr sz="1800" b="1" i="0">
                          <a:solidFill>
                            <a:srgbClr val="1A1A1A"/>
                          </a:solidFill>
                          <a:latin typeface="Calibri"/>
                        </a:rPr>
                        <a:t>bloqueia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: 120 ok em 4 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Serviço externo 30% falho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1A1A1A"/>
                          </a:solidFill>
                          <a:latin typeface="Calibri"/>
                        </a:rPr>
                        <a:t>34% de erro → 0,8%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 com 3 retentativas (+88% de tempo)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Limite de memória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OOM kill do 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Consolas"/>
                        </a:rPr>
                        <a:t>read</a:t>
                      </a:r>
                      <a:r>
                        <a:rPr sz="1800" b="0" i="0">
                          <a:solidFill>
                            <a:srgbClr val="1A1A1A"/>
                          </a:solidFill>
                          <a:latin typeface="Calibri"/>
                        </a:rPr>
                        <a:t> (exit 137)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Relação com IA generativa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13 / 15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Carregar </a:t>
            </a:r>
            <a:r>
              <a:rPr sz="2200" b="0" i="1">
                <a:solidFill>
                  <a:srgbClr val="1A1A1A"/>
                </a:solidFill>
                <a:latin typeface="Calibri"/>
              </a:rPr>
              <a:t>embeddings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/</a:t>
            </a:r>
            <a:r>
              <a:rPr sz="2200" b="0" i="1">
                <a:solidFill>
                  <a:srgbClr val="1A1A1A"/>
                </a:solidFill>
                <a:latin typeface="Calibri"/>
              </a:rPr>
              <a:t>checkpoints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: </a:t>
            </a:r>
            <a:r>
              <a:rPr sz="2200" b="0" i="0">
                <a:solidFill>
                  <a:srgbClr val="1A1A1A"/>
                </a:solidFill>
                <a:latin typeface="Consolas"/>
              </a:rPr>
              <a:t>read()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= memória anônima; </a:t>
            </a:r>
            <a:r>
              <a:rPr sz="2200" b="0" i="0">
                <a:solidFill>
                  <a:srgbClr val="1A1A1A"/>
                </a:solidFill>
                <a:latin typeface="Consolas"/>
              </a:rPr>
              <a:t>mmap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= paginação sob demanda (e </a:t>
            </a:r>
            <a:r>
              <a:rPr sz="2200" b="0" i="1">
                <a:solidFill>
                  <a:srgbClr val="1A1A1A"/>
                </a:solidFill>
                <a:latin typeface="Calibri"/>
              </a:rPr>
              <a:t>thrashing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se não cabe)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1ª carga fria ≫ próximas (cache de páginas)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Força bruta O(N) → índices aproximados; contexto = custo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e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qualidade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Filas limitadas = </a:t>
            </a:r>
            <a:r>
              <a:rPr sz="2200" b="0" i="1">
                <a:solidFill>
                  <a:srgbClr val="1A1A1A"/>
                </a:solidFill>
                <a:latin typeface="Calibri"/>
              </a:rPr>
              <a:t>backpressure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; caches de resposta só pagam com repetição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Limitações</a:t>
            </a:r>
          </a:p>
        </p:txBody>
      </p:sp>
      <p:sp>
        <p:nvSpPr>
          <p:cNvPr id="3" name="Numero do slide"/>
          <p:cNvSpPr txBox="1"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2514E"/>
                </a:solidFill>
                <a:latin typeface="Calibri"/>
              </a:rPr>
              <a:t>14 / 15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Contêiner sobre WSL2: "frio" = frio no cache da VM · 2 núcleos físicos, com ruído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Geração e embeddings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simulados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→ não generaliza para GPUs, modelos grandes ou ambiente distribuído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Corrida com </a:t>
            </a:r>
            <a:r>
              <a:rPr sz="2200" b="1" i="0">
                <a:solidFill>
                  <a:srgbClr val="1A1A1A"/>
                </a:solidFill>
                <a:latin typeface="Calibri"/>
              </a:rPr>
              <a:t>injeção de falha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(janelas ampliadas) · swap e starvation não testados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2200" b="0" i="0">
                <a:solidFill>
                  <a:srgbClr val="1A1A1A"/>
                </a:solidFill>
                <a:latin typeface="Calibri"/>
              </a:rPr>
              <a:t>Causa total da saturação com mais de 2 workers não isolada (OpenBLAS explica ~10–15%)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194560"/>
            <a:ext cx="11064240" cy="1097280"/>
          </a:xfrm>
        </p:spPr>
        <p:txBody>
          <a:bodyPr anchor="ctr"/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Obrigada</a:t>
            </a:r>
          </a:p>
        </p:txBody>
      </p:sp>
      <p:sp>
        <p:nvSpPr>
          <p:cNvPr id="3" name="Encerramento"/>
          <p:cNvSpPr txBox="1"/>
          <p:nvPr/>
        </p:nvSpPr>
        <p:spPr>
          <a:xfrm>
            <a:off x="548640" y="3474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400" b="0" i="0">
                <a:solidFill>
                  <a:srgbClr val="CADCFC"/>
                </a:solidFill>
                <a:latin typeface="Calibri"/>
              </a:rPr>
              <a:t>Repositório, relatório, dados, logs e instruções em </a:t>
            </a:r>
            <a:r>
              <a:rPr sz="2400" b="0" i="0">
                <a:solidFill>
                  <a:srgbClr val="CADCFC"/>
                </a:solidFill>
                <a:latin typeface="Consolas"/>
              </a:rPr>
              <a:t>README.md</a:t>
            </a:r>
          </a:p>
          <a:p>
            <a:pPr>
              <a:spcAft>
                <a:spcPts val="600"/>
              </a:spcAft>
              <a:buNone/>
            </a:pPr>
            <a:r>
              <a:rPr sz="2400" b="0" i="0">
                <a:solidFill>
                  <a:srgbClr val="CADCFC"/>
                </a:solidFill>
                <a:latin typeface="Calibri"/>
              </a:rPr>
              <a:t>Reprodução: </a:t>
            </a:r>
            <a:r>
              <a:rPr sz="2400" b="0" i="0">
                <a:solidFill>
                  <a:srgbClr val="CADCFC"/>
                </a:solidFill>
                <a:latin typeface="Consolas"/>
              </a:rPr>
              <a:t>python scripts/run_all.py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